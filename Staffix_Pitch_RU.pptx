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457200"/>
            <a:ext cx="3657600" cy="3657600"/>
          </a:xfrm>
          <a:prstGeom prst="ellipse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4114800" cy="4114800"/>
          </a:xfrm>
          <a:prstGeom prst="ellipse">
            <a:avLst/>
          </a:prstGeom>
          <a:solidFill>
            <a:srgbClr val="1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645920"/>
            <a:ext cx="4112057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AI-сотрудник для вашего бизнеса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Calibri"/>
              </a:defRPr>
            </a:pPr>
            <a:r>
              <a:t>Отвечает клиентам. Записывает на услуги. Работает 24/7.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669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  <a:latin typeface="Calibri"/>
              </a:defRPr>
            </a:pPr>
            <a:r>
              <a:t>staffix.io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542021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Знакомо?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6576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F4444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Клиент написал в 23:00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Никто не ответил.</a:t>
            </a:r>
            <a:br/>
            <a:r>
              <a:t>Утром он уже у конкурента.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383280" cy="36576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F4444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7432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Администратор забыл</a:t>
            </a:r>
            <a:br/>
            <a:r>
              <a:t>перезвонить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8404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Потерян клиент</a:t>
            </a:r>
            <a:br/>
            <a:r>
              <a:t>на 500 000 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383280" cy="36576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F4444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47 непрочитанных</a:t>
            </a:r>
            <a:br/>
            <a:r>
              <a:t>в 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8404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А рабочий день</a:t>
            </a:r>
            <a:br/>
            <a:r>
              <a:t>уже закончился.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80"/>
                </a:solidFill>
                <a:latin typeface="Calibri"/>
              </a:defRPr>
            </a:pPr>
            <a:r>
              <a:t>📷 Вставьте фото: уставший владелец бизнеса с телефоном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542021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Сколько вы теряете?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28016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B82F6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0574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Calibri"/>
              </a:defRPr>
            </a:pPr>
            <a:r>
              <a:t>клиентов уходят к конкуренту,</a:t>
            </a:r>
            <a:br/>
            <a:r>
              <a:t>если не получили ответ в течение часа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128016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B82F6"/>
                </a:solidFill>
                <a:latin typeface="Calibri"/>
              </a:defRPr>
            </a:pPr>
            <a:r>
              <a:t>15-30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118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Calibri"/>
              </a:defRPr>
            </a:pPr>
            <a:r>
              <a:t>клиентов в месяц теряет</a:t>
            </a:r>
            <a:br/>
            <a:r>
              <a:t>средний бизнес из-за медленных ответов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698480" cy="128016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074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B82F6"/>
                </a:solidFill>
                <a:latin typeface="Calibri"/>
              </a:defRPr>
            </a:pPr>
            <a:r>
              <a:t>3 000 000 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1663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Calibri"/>
              </a:defRPr>
            </a:pPr>
            <a:r>
              <a:t>упущенной выручки в год —</a:t>
            </a:r>
            <a:br/>
            <a:r>
              <a:t>минимальная оценка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542021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Встречайте вашего AI-сотрудника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_sfx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0" y="182880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Staffix — это AI, который знает ваш бизнес досконально: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9CA3AF"/>
                </a:solidFill>
                <a:latin typeface="Calibri"/>
              </a:defRPr>
            </a:pPr>
            <a:r>
              <a:t>→  Ваши услуги, цены, акции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9CA3AF"/>
                </a:solidFill>
                <a:latin typeface="Calibri"/>
              </a:defRPr>
            </a:pPr>
            <a:r>
              <a:t>→  График работы и свободные окна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9CA3AF"/>
                </a:solidFill>
                <a:latin typeface="Calibri"/>
              </a:defRPr>
            </a:pPr>
            <a:r>
              <a:t>→  Как отвечать, в каком тоне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9CA3AF"/>
                </a:solidFill>
                <a:latin typeface="Calibri"/>
              </a:defRPr>
            </a:pPr>
            <a:r>
              <a:t>→  FAQ и частые вопросы клиентов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166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  <a:latin typeface="Calibri"/>
              </a:defRPr>
            </a:pPr>
            <a:r>
              <a:t>Не увольняется  •  Не болеет  •  Не забывает  •  Работает 24/7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542021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3 шага до AI-сотрудника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19456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Расскажите о бизнесе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5 минут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Услуги, цены, FAQ —</a:t>
            </a:r>
            <a:br/>
            <a:r>
              <a:t>AI запомнит всё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28800"/>
            <a:ext cx="3383280" cy="41148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79" y="219456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2402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108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Подключите каналы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2 минуты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41148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WhatsApp, Instagram,</a:t>
            </a:r>
            <a:br/>
            <a:r>
              <a:t>Telegram, Facebook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383280" cy="41148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0" y="219456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2402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108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 начинает работать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Сразу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1148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Отвечает клиентам</a:t>
            </a:r>
            <a:br/>
            <a:r>
              <a:t>от имени вашего бизнеса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542021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Давайте покажу прямо сейчас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418320" cy="41148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1031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Живая демонстрация: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9CA3AF"/>
                </a:solidFill>
                <a:latin typeface="Calibri"/>
              </a:defRPr>
            </a:pPr>
            <a:r>
              <a:t>✓  Клиент спрашивает про услуги → AI отвечает с ценами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9CA3AF"/>
                </a:solidFill>
                <a:latin typeface="Calibri"/>
              </a:defRPr>
            </a:pPr>
            <a:r>
              <a:t>✓  Клиент хочет записаться → AI предлагает свободное время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9CA3AF"/>
                </a:solidFill>
                <a:latin typeface="Calibri"/>
              </a:defRPr>
            </a:pPr>
            <a:r>
              <a:t>✓  Клиент спрашивает адрес → AI даёт точный ответ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9CA3AF"/>
                </a:solidFill>
                <a:latin typeface="Calibri"/>
              </a:defRPr>
            </a:pPr>
            <a:r>
              <a:t>✓  Клиент пишет в нерабочее время → AI всё равно отвечает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80"/>
                </a:solidFill>
                <a:latin typeface="Calibri"/>
              </a:defRPr>
            </a:pPr>
            <a:r>
              <a:t>📷 Переключитесь на телефон для живого демо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542021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Один AI — все мессенджеры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51760" cy="32004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51760" cy="508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Самый популярный</a:t>
            </a:r>
            <a:br/>
            <a:r>
              <a:t>в КЗ и УЗ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651760" cy="32004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828800"/>
            <a:ext cx="2651760" cy="508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Instagram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DM + комментарии</a:t>
            </a:r>
            <a:br/>
            <a:r>
              <a:t>к постам и рилс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651760" cy="32004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2651760" cy="5080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Telegram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Боты + группы</a:t>
            </a:r>
            <a:br/>
            <a:r>
              <a:t>для бизнеса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828800"/>
            <a:ext cx="2651760" cy="32004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0" y="1828800"/>
            <a:ext cx="2651760" cy="5080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Facebook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Messenger</a:t>
            </a:r>
            <a:br/>
            <a:r>
              <a:t>для страниц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Все переписки — в одном дашборде. Вы видите каждого клиента.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542021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Что умеет AI-сотрудник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Отвечает клиентам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Мгновенно, 24/7, на языке клиента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383280" cy="20116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Записывает на услуги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108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Проверяет свободные окна в расписании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383280" cy="20116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Квалифицирует лидов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cold → warm → hot → клиент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Знает ваш каталог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Цены, акции, описания товаров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114800"/>
            <a:ext cx="3383280" cy="20116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 языка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5394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Русский, английский, казахский, узбекский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114800"/>
            <a:ext cx="3383280" cy="20116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Ведёт аналитику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394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Обращения, конверсия, каналы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542021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Для какого бизнеса подходит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Салоны красоты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Запись, прайс, напоминания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383280" cy="20116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965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🍽️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606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Рестораны и кафе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108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Меню, бронь столов, доставка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383280" cy="20116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65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06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Клиники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Запись к врачу, FAQ по услугам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🏋️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Фитнес-клубы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Расписание, абонементы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114800"/>
            <a:ext cx="3383280" cy="20116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4251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4892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Интернет-магазины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5394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Каталог, статус заказа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114800"/>
            <a:ext cx="3383280" cy="20116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251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892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Сервисные компании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394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Заявки, статус ремонта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80"/>
                </a:solidFill>
                <a:latin typeface="Calibri"/>
              </a:defRPr>
            </a:pPr>
            <a:r>
              <a:t>📷 Вставьте фото: довольные владельцы бизнесов / интерьеры салонов и ресторанов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542021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Администратор vs AI-сотрудник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00400" cy="6400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Calibr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114800" y="1645920"/>
            <a:ext cx="3657600" cy="6400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691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CA3AF"/>
                </a:solidFill>
                <a:latin typeface="Calibri"/>
              </a:defRPr>
            </a:pPr>
            <a:r>
              <a:t>👤 Администратор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645920"/>
            <a:ext cx="3657600" cy="640080"/>
          </a:xfrm>
          <a:prstGeom prst="roundRect">
            <a:avLst/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91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🤖 AI Staffix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3200400" cy="54864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Стоимость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468880"/>
            <a:ext cx="3657600" cy="54864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14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  <a:latin typeface="Calibri"/>
              </a:defRPr>
            </a:pPr>
            <a:r>
              <a:t>150-250K ₸/мес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468880"/>
            <a:ext cx="3657600" cy="54864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14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2C55E"/>
                </a:solidFill>
                <a:latin typeface="Calibri"/>
              </a:defRPr>
            </a:pPr>
            <a:r>
              <a:t>от 5 000 ₸/мес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40"/>
            <a:ext cx="3200400" cy="548640"/>
          </a:xfrm>
          <a:prstGeom prst="roundRect">
            <a:avLst/>
          </a:prstGeom>
          <a:solidFill>
            <a:srgbClr val="0B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График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3063240"/>
            <a:ext cx="3657600" cy="548640"/>
          </a:xfrm>
          <a:prstGeom prst="roundRect">
            <a:avLst/>
          </a:prstGeom>
          <a:solidFill>
            <a:srgbClr val="0B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  <a:latin typeface="Calibri"/>
              </a:defRPr>
            </a:pPr>
            <a:r>
              <a:t>8 часов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3063240"/>
            <a:ext cx="3657600" cy="548640"/>
          </a:xfrm>
          <a:prstGeom prst="roundRect">
            <a:avLst/>
          </a:prstGeom>
          <a:solidFill>
            <a:srgbClr val="0B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2C55E"/>
                </a:solidFill>
                <a:latin typeface="Calibri"/>
              </a:defRPr>
            </a:pPr>
            <a:r>
              <a:t>24/7/365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657600"/>
            <a:ext cx="3200400" cy="54864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703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Скорость ответа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3657600"/>
            <a:ext cx="3657600" cy="54864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703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  <a:latin typeface="Calibri"/>
              </a:defRPr>
            </a:pPr>
            <a:r>
              <a:t>5-30 минут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3657600"/>
            <a:ext cx="3657600" cy="54864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703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2C55E"/>
                </a:solidFill>
                <a:latin typeface="Calibri"/>
              </a:defRPr>
            </a:pPr>
            <a:r>
              <a:t>3 секунды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251960"/>
            <a:ext cx="3200400" cy="548640"/>
          </a:xfrm>
          <a:prstGeom prst="roundRect">
            <a:avLst/>
          </a:prstGeom>
          <a:solidFill>
            <a:srgbClr val="0B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Забывает?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0" y="4251960"/>
            <a:ext cx="3657600" cy="548640"/>
          </a:xfrm>
          <a:prstGeom prst="roundRect">
            <a:avLst/>
          </a:prstGeom>
          <a:solidFill>
            <a:srgbClr val="0B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  <a:latin typeface="Calibri"/>
              </a:defRPr>
            </a:pPr>
            <a:r>
              <a:t>Да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79" y="4251960"/>
            <a:ext cx="3657600" cy="548640"/>
          </a:xfrm>
          <a:prstGeom prst="roundRect">
            <a:avLst/>
          </a:prstGeom>
          <a:solidFill>
            <a:srgbClr val="0B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79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2C55E"/>
                </a:solidFill>
                <a:latin typeface="Calibri"/>
              </a:defRPr>
            </a:pPr>
            <a:r>
              <a:t>Никогда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846320"/>
            <a:ext cx="3200400" cy="54864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892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Болеет?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0" y="4846320"/>
            <a:ext cx="3657600" cy="54864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892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  <a:latin typeface="Calibri"/>
              </a:defRPr>
            </a:pPr>
            <a:r>
              <a:t>Да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55279" y="4846320"/>
            <a:ext cx="3657600" cy="54864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79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892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2C55E"/>
                </a:solidFill>
                <a:latin typeface="Calibri"/>
              </a:defRPr>
            </a:pPr>
            <a:r>
              <a:t>Нет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5440680"/>
            <a:ext cx="3200400" cy="548640"/>
          </a:xfrm>
          <a:prstGeom prst="roundRect">
            <a:avLst/>
          </a:prstGeom>
          <a:solidFill>
            <a:srgbClr val="0B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486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Масштаб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0" y="5440680"/>
            <a:ext cx="3657600" cy="548640"/>
          </a:xfrm>
          <a:prstGeom prst="roundRect">
            <a:avLst/>
          </a:prstGeom>
          <a:solidFill>
            <a:srgbClr val="0B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0" y="5486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5486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  <a:latin typeface="Calibri"/>
              </a:defRPr>
            </a:pPr>
            <a:r>
              <a:t>1 чат за раз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55279" y="5440680"/>
            <a:ext cx="3657600" cy="548640"/>
          </a:xfrm>
          <a:prstGeom prst="roundRect">
            <a:avLst/>
          </a:prstGeom>
          <a:solidFill>
            <a:srgbClr val="0B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55279" y="5486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5486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2C55E"/>
                </a:solidFill>
                <a:latin typeface="Calibri"/>
              </a:defRPr>
            </a:pPr>
            <a:r>
              <a:t>100+ одновременно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6035040"/>
            <a:ext cx="3200400" cy="54864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6080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Языки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0" y="6035040"/>
            <a:ext cx="3657600" cy="54864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0" y="6080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6080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  <a:latin typeface="Calibri"/>
              </a:defRPr>
            </a:pPr>
            <a:r>
              <a:t>1-2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955279" y="6035040"/>
            <a:ext cx="3657600" cy="54864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55279" y="6080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6080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2C55E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542021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Простые тарифы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5720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CA3AF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5 000 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/мес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✓  100 сообщений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✓  1 канал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✓  Базовая аналитика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✓  Email поддержка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39" y="1783080"/>
            <a:ext cx="3474720" cy="46634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59" y="1828800"/>
            <a:ext cx="3383280" cy="45720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79" y="1645920"/>
            <a:ext cx="1920240" cy="4114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9" y="16642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РЕКОМЕНДУЕМ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B82F6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7432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15 000 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/мес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566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1 000 сообщений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023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Все каналы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Полная аналитика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937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Квалификация лидов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5394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Приоритетная поддержка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828800"/>
            <a:ext cx="3383280" cy="45720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CA3AF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7432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35 000 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/мес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566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✓  Безлимит сообщений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023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✓  Все каналы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✓  API доступ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937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✓  Персональная настройка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394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✓  Выделенный менеджер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542021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Уже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201168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3B82F6"/>
                </a:solidFill>
                <a:latin typeface="Calibri"/>
              </a:defRPr>
            </a:pPr>
            <a: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За первую неделю AI обработал 200+ обращений.</a:t>
            </a:r>
            <a:br/>
            <a:r>
              <a:t>Мы перестали терять ночных клиентов.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— Салон красоты, Алматы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3383280" cy="18288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Calibri"/>
              </a:defRPr>
            </a:pPr>
            <a:r>
              <a:t>бизнесов</a:t>
            </a:r>
            <a:br/>
            <a:r>
              <a:t>подключено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4389120"/>
            <a:ext cx="3383280" cy="18288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4572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10 000+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53035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Calibri"/>
              </a:defRPr>
            </a:pPr>
            <a:r>
              <a:t>обработанных</a:t>
            </a:r>
            <a:br/>
            <a:r>
              <a:t>сообщений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389120"/>
            <a:ext cx="3383280" cy="18288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572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4 страны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3035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Calibri"/>
              </a:defRPr>
            </a:pPr>
            <a:r>
              <a:t>KZ, UZ,</a:t>
            </a:r>
            <a:br/>
            <a:r>
              <a:t>RU, KR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80"/>
                </a:solidFill>
                <a:latin typeface="Calibri"/>
              </a:defRPr>
            </a:pPr>
            <a:r>
              <a:t>* Обновите цифры на актуальные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542021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Начните получать клиентов уже сегодня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8288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1031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Регистрация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2C55E"/>
                </a:solidFill>
                <a:latin typeface="Calibri"/>
              </a:defRPr>
            </a:pPr>
            <a:r>
              <a:t>1 минута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828800"/>
            <a:ext cx="3383280" cy="18288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79" y="21031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399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Настройка бизнеса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399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2C55E"/>
                </a:solidFill>
                <a:latin typeface="Calibri"/>
              </a:defRPr>
            </a:pPr>
            <a:r>
              <a:t>5 минут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383280" cy="182880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0" y="21031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 отвечает клиентам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2C55E"/>
                </a:solidFill>
                <a:latin typeface="Calibri"/>
              </a:defRPr>
            </a:pPr>
            <a:r>
              <a:t>Сразу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114800"/>
            <a:ext cx="8503920" cy="2011680"/>
          </a:xfrm>
          <a:prstGeom prst="roundRect">
            <a:avLst/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429768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Первые 50 сообщений — бесплатно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9377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  <a:latin typeface="Calibri"/>
              </a:defRPr>
            </a:pPr>
            <a:r>
              <a:t>Никаких обязательств. Отмена в 1 клик.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5486400"/>
            <a:ext cx="3931920" cy="7315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55321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Попробовать бесплатно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309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  <a:latin typeface="Calibri"/>
              </a:defRPr>
            </a:pPr>
            <a:r>
              <a:t>staffix.io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3200400" cy="3200400"/>
          </a:xfrm>
          <a:prstGeom prst="ellipse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Вопросы?</a:t>
            </a:r>
          </a:p>
        </p:txBody>
      </p:sp>
      <p:pic>
        <p:nvPicPr>
          <p:cNvPr id="5" name="Picture 4" descr="A2_right_whit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926080"/>
            <a:ext cx="3084043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43891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CA3AF"/>
                </a:solidFill>
                <a:latin typeface="Calibri"/>
              </a:defRPr>
            </a:pPr>
            <a:r>
              <a:t>🌐  staffix.io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892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CA3AF"/>
                </a:solidFill>
                <a:latin typeface="Calibri"/>
              </a:defRPr>
            </a:pPr>
            <a:r>
              <a:t>📸  @staffixio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394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CA3AF"/>
                </a:solidFill>
                <a:latin typeface="Calibri"/>
              </a:defRPr>
            </a:pPr>
            <a:r>
              <a:t>💬  Telegram: @staffix_support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943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